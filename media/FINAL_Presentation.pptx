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yNTew/6vk5Ou4k9mTph8PVP4Q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Vision-based teleoperation system for surgical training.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Map teacher hand pose to robot arm motion via inverse kinematics in simulation and on a real UR robot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848ef1978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d848ef1978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8d94a665e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methods for experiments, what was the data set, how to material learned in class helped you in the project?</a:t>
            </a:r>
            <a:endParaRPr/>
          </a:p>
        </p:txBody>
      </p:sp>
      <p:sp>
        <p:nvSpPr>
          <p:cNvPr id="216" name="Google Shape;216;g3d8d94a665e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methods for experiments, what was the data set, how to material learned in class helped you in the project?</a:t>
            </a:r>
            <a:endParaRPr/>
          </a:p>
        </p:txBody>
      </p:sp>
      <p:sp>
        <p:nvSpPr>
          <p:cNvPr id="230" name="Google Shape;2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9e14f9b69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methods for experiments, what was the data set, how to material learned in class helped you in the project?</a:t>
            </a:r>
            <a:endParaRPr/>
          </a:p>
        </p:txBody>
      </p:sp>
      <p:sp>
        <p:nvSpPr>
          <p:cNvPr id="236" name="Google Shape;236;g3d9e14f9b69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8d94a665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8d94a665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8d94a665e_0_2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d8d94a665e_0_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65cd911e6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e65cd911e6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65cd911e6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e65cd911e6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8d94a665e_0_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d8d94a665e_0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65cd911e6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e65cd911e6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084423464_2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5084423464_2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5084423464_2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b2bfda5d9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3b2bfda5d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3b2bfda5d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adf4ebf1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dadf4ebf1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dadf4ebf1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af610dcc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daf610dcc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daf610dcc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000"/>
              <a:buFont typeface="Calibri"/>
              <a:buNone/>
              <a:defRPr sz="6000">
                <a:solidFill>
                  <a:srgbClr val="BF9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title"/>
          </p:nvPr>
        </p:nvSpPr>
        <p:spPr>
          <a:xfrm>
            <a:off x="229968" y="3745"/>
            <a:ext cx="10689566" cy="91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4000"/>
              <a:buFont typeface="Calibri"/>
              <a:buNone/>
              <a:defRPr sz="4000">
                <a:solidFill>
                  <a:srgbClr val="BF9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225964" y="1110771"/>
            <a:ext cx="11711985" cy="5070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244108" y="3745"/>
            <a:ext cx="10285631" cy="91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244108" y="3745"/>
            <a:ext cx="10285631" cy="91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244108" y="3745"/>
            <a:ext cx="10285631" cy="91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" type="body"/>
          </p:nvPr>
        </p:nvSpPr>
        <p:spPr>
          <a:xfrm rot="5400000">
            <a:off x="3546496" y="-2209761"/>
            <a:ext cx="5070922" cy="11711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b9bff61fe_1_141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4000"/>
              <a:buFont typeface="Calibri"/>
              <a:buNone/>
              <a:defRPr sz="4000">
                <a:solidFill>
                  <a:srgbClr val="BF9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3b9bff61fe_1_141"/>
          <p:cNvSpPr txBox="1"/>
          <p:nvPr>
            <p:ph idx="1" type="body"/>
          </p:nvPr>
        </p:nvSpPr>
        <p:spPr>
          <a:xfrm>
            <a:off x="225964" y="1110771"/>
            <a:ext cx="11712000" cy="5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3b9bff61fe_1_14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3b9bff61fe_1_14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3b9bff61fe_1_1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b9bff61fe_1_13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000"/>
              <a:buFont typeface="Calibri"/>
              <a:buNone/>
              <a:defRPr sz="6000">
                <a:solidFill>
                  <a:srgbClr val="BF9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3b9bff61fe_1_13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g33b9bff61fe_1_1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3b9bff61fe_1_1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3b9bff61fe_1_1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b9bff61fe_1_14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3b9bff61fe_1_14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g33b9bff61fe_1_14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3b9bff61fe_1_14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3b9bff61fe_1_1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b9bff61fe_1_153"/>
          <p:cNvSpPr txBox="1"/>
          <p:nvPr>
            <p:ph type="title"/>
          </p:nvPr>
        </p:nvSpPr>
        <p:spPr>
          <a:xfrm>
            <a:off x="244108" y="3745"/>
            <a:ext cx="102855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3b9bff61fe_1_15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33b9bff61fe_1_15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g33b9bff61fe_1_15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3b9bff61fe_1_15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3b9bff61fe_1_1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b9bff61fe_1_16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3b9bff61fe_1_160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g33b9bff61fe_1_160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g33b9bff61fe_1_160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g33b9bff61fe_1_160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g33b9bff61fe_1_1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3b9bff61fe_1_1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3b9bff61fe_1_1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b9bff61fe_1_169"/>
          <p:cNvSpPr txBox="1"/>
          <p:nvPr>
            <p:ph type="title"/>
          </p:nvPr>
        </p:nvSpPr>
        <p:spPr>
          <a:xfrm>
            <a:off x="244108" y="3745"/>
            <a:ext cx="102855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3b9bff61fe_1_16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3b9bff61fe_1_1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3b9bff61fe_1_1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b9bff61fe_1_1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3b9bff61fe_1_1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3b9bff61fe_1_1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b9bff61fe_1_17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3b9bff61fe_1_178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2" name="Google Shape;142;g33b9bff61fe_1_178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g33b9bff61fe_1_17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3b9bff61fe_1_17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3b9bff61fe_1_17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b9bff61fe_1_18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3b9bff61fe_1_185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g33b9bff61fe_1_185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0" name="Google Shape;150;g33b9bff61fe_1_18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3b9bff61fe_1_18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3b9bff61fe_1_1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b9bff61fe_1_192"/>
          <p:cNvSpPr txBox="1"/>
          <p:nvPr>
            <p:ph type="title"/>
          </p:nvPr>
        </p:nvSpPr>
        <p:spPr>
          <a:xfrm>
            <a:off x="244108" y="3745"/>
            <a:ext cx="102855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3b9bff61fe_1_192"/>
          <p:cNvSpPr txBox="1"/>
          <p:nvPr>
            <p:ph idx="1" type="body"/>
          </p:nvPr>
        </p:nvSpPr>
        <p:spPr>
          <a:xfrm rot="5400000">
            <a:off x="3546499" y="-2209779"/>
            <a:ext cx="5070900" cy="117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g33b9bff61fe_1_19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3b9bff61fe_1_19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3b9bff61fe_1_19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b9bff61fe_1_198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33b9bff61fe_1_198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g33b9bff61fe_1_19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3b9bff61fe_1_19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3b9bff61fe_1_1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" type="body"/>
          </p:nvPr>
        </p:nvSpPr>
        <p:spPr>
          <a:xfrm>
            <a:off x="225964" y="1110771"/>
            <a:ext cx="11711985" cy="5070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1" name="Google Shape;11;p12"/>
          <p:cNvCxnSpPr/>
          <p:nvPr/>
        </p:nvCxnSpPr>
        <p:spPr>
          <a:xfrm>
            <a:off x="0" y="914400"/>
            <a:ext cx="12192000" cy="0"/>
          </a:xfrm>
          <a:prstGeom prst="straightConnector1">
            <a:avLst/>
          </a:prstGeom>
          <a:noFill/>
          <a:ln cap="flat" cmpd="sng" w="28575">
            <a:solidFill>
              <a:srgbClr val="8663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2"/>
          <p:cNvPicPr preferRelativeResize="0"/>
          <p:nvPr/>
        </p:nvPicPr>
        <p:blipFill rotWithShape="1">
          <a:blip r:embed="rId1">
            <a:alphaModFix/>
          </a:blip>
          <a:srcRect b="21666" l="0" r="0" t="22607"/>
          <a:stretch/>
        </p:blipFill>
        <p:spPr>
          <a:xfrm>
            <a:off x="10993564" y="154361"/>
            <a:ext cx="1099929" cy="61291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 txBox="1"/>
          <p:nvPr/>
        </p:nvSpPr>
        <p:spPr>
          <a:xfrm>
            <a:off x="11584307" y="6427692"/>
            <a:ext cx="635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‹#›</a:t>
            </a:fld>
            <a:endParaRPr b="1" i="0" sz="1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7" name="Google Shape;17;p12"/>
          <p:cNvSpPr txBox="1"/>
          <p:nvPr>
            <p:ph type="title"/>
          </p:nvPr>
        </p:nvSpPr>
        <p:spPr>
          <a:xfrm>
            <a:off x="229968" y="3745"/>
            <a:ext cx="10680688" cy="91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b9bff61fe_1_126"/>
          <p:cNvSpPr txBox="1"/>
          <p:nvPr>
            <p:ph idx="1" type="body"/>
          </p:nvPr>
        </p:nvSpPr>
        <p:spPr>
          <a:xfrm>
            <a:off x="225964" y="1110771"/>
            <a:ext cx="11712000" cy="5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89" name="Google Shape;89;g33b9bff61fe_1_126"/>
          <p:cNvCxnSpPr/>
          <p:nvPr/>
        </p:nvCxnSpPr>
        <p:spPr>
          <a:xfrm>
            <a:off x="0" y="914400"/>
            <a:ext cx="12192000" cy="0"/>
          </a:xfrm>
          <a:prstGeom prst="straightConnector1">
            <a:avLst/>
          </a:prstGeom>
          <a:noFill/>
          <a:ln cap="flat" cmpd="sng" w="28575">
            <a:solidFill>
              <a:srgbClr val="8663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g33b9bff61fe_1_1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g33b9bff61fe_1_1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3b9bff61fe_1_1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g33b9bff61fe_1_126"/>
          <p:cNvPicPr preferRelativeResize="0"/>
          <p:nvPr/>
        </p:nvPicPr>
        <p:blipFill rotWithShape="1">
          <a:blip r:embed="rId1">
            <a:alphaModFix/>
          </a:blip>
          <a:srcRect b="21670" l="0" r="0" t="22606"/>
          <a:stretch/>
        </p:blipFill>
        <p:spPr>
          <a:xfrm>
            <a:off x="10993564" y="154361"/>
            <a:ext cx="1099929" cy="61291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3b9bff61fe_1_126"/>
          <p:cNvSpPr txBox="1"/>
          <p:nvPr/>
        </p:nvSpPr>
        <p:spPr>
          <a:xfrm>
            <a:off x="11584307" y="6427692"/>
            <a:ext cx="63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‹#›</a:t>
            </a:fld>
            <a:endParaRPr b="1" i="0" sz="15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95" name="Google Shape;95;g33b9bff61fe_1_126"/>
          <p:cNvSpPr txBox="1"/>
          <p:nvPr>
            <p:ph type="title"/>
          </p:nvPr>
        </p:nvSpPr>
        <p:spPr>
          <a:xfrm>
            <a:off x="229968" y="3745"/>
            <a:ext cx="10680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P5ttTQugmFGgIPE9HclFbou-Ztgwc8qY/view" TargetMode="External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iud3vYkJpw5LUQtRbg8KBE4aWGiiKMsm/view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JcTjj4O-9TW0DyfKdLBzfDCPkFhlT1A9/view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OHaEg-p0cj097CsL64WhAZCLGFaL1l2Z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"/>
          <p:cNvSpPr txBox="1"/>
          <p:nvPr>
            <p:ph type="ctrTitle"/>
          </p:nvPr>
        </p:nvSpPr>
        <p:spPr>
          <a:xfrm>
            <a:off x="157500" y="1497975"/>
            <a:ext cx="11723400" cy="25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000"/>
              <a:buFont typeface="Calibri"/>
              <a:buNone/>
            </a:pPr>
            <a:r>
              <a:rPr lang="en-US" sz="5300"/>
              <a:t>Vision-Aided Feedback System for Surgical Assistance</a:t>
            </a:r>
            <a:endParaRPr sz="5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000"/>
              <a:buFont typeface="Calibri"/>
              <a:buNone/>
            </a:pPr>
            <a:r>
              <a:t/>
            </a:r>
            <a:endParaRPr sz="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000"/>
              <a:buFont typeface="Calibri"/>
              <a:buNone/>
            </a:pPr>
            <a:r>
              <a:rPr lang="en-US" sz="3600"/>
              <a:t>IE 54900 - Final Presentation</a:t>
            </a:r>
            <a:endParaRPr sz="3600"/>
          </a:p>
        </p:txBody>
      </p:sp>
      <p:sp>
        <p:nvSpPr>
          <p:cNvPr id="171" name="Google Shape;171;p1"/>
          <p:cNvSpPr txBox="1"/>
          <p:nvPr>
            <p:ph idx="1" type="subTitle"/>
          </p:nvPr>
        </p:nvSpPr>
        <p:spPr>
          <a:xfrm>
            <a:off x="71425" y="4428900"/>
            <a:ext cx="12025200" cy="22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April 28, 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Team: Vaishnavi Satish, Madhura Kunachi, Sanidhya Shrivastava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800"/>
          </a:p>
          <a:p>
            <a:pPr indent="-228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Instructor: Prof. Juan Wachs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>
            <p:ph type="title"/>
          </p:nvPr>
        </p:nvSpPr>
        <p:spPr>
          <a:xfrm>
            <a:off x="229968" y="3745"/>
            <a:ext cx="10689566" cy="91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4000"/>
              <a:buFont typeface="Calibri"/>
              <a:buNone/>
            </a:pPr>
            <a:r>
              <a:rPr lang="en-US"/>
              <a:t>Background and Motivation</a:t>
            </a:r>
            <a:endParaRPr/>
          </a:p>
        </p:txBody>
      </p:sp>
      <p:sp>
        <p:nvSpPr>
          <p:cNvPr id="177" name="Google Shape;177;p2"/>
          <p:cNvSpPr txBox="1"/>
          <p:nvPr>
            <p:ph idx="1" type="body"/>
          </p:nvPr>
        </p:nvSpPr>
        <p:spPr>
          <a:xfrm>
            <a:off x="229975" y="1253713"/>
            <a:ext cx="5839800" cy="25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5814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Surgical skill requires hands-on guidance.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5814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Expert surgeons are not always accessible.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5814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How do you transfer surgical skill across distance?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600" y="1531350"/>
            <a:ext cx="5499025" cy="457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725" y="3967675"/>
            <a:ext cx="4055374" cy="2703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848ef1978_0_93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Limitations</a:t>
            </a:r>
            <a:endParaRPr i="1"/>
          </a:p>
        </p:txBody>
      </p:sp>
      <p:sp>
        <p:nvSpPr>
          <p:cNvPr id="185" name="Google Shape;185;g3d848ef1978_0_93"/>
          <p:cNvSpPr txBox="1"/>
          <p:nvPr/>
        </p:nvSpPr>
        <p:spPr>
          <a:xfrm>
            <a:off x="644500" y="1805900"/>
            <a:ext cx="6111600" cy="4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Existing teleoperation systems often depend on expensive hardware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Many approaches require wearable markers, gloves, or motion capture setups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Real-time low-cost teleoperation frameworks are unavailable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86" name="Google Shape;186;g3d848ef1978_0_93"/>
          <p:cNvPicPr preferRelativeResize="0"/>
          <p:nvPr/>
        </p:nvPicPr>
        <p:blipFill rotWithShape="1">
          <a:blip r:embed="rId3">
            <a:alphaModFix/>
          </a:blip>
          <a:srcRect b="4753" l="0" r="0" t="0"/>
          <a:stretch/>
        </p:blipFill>
        <p:spPr>
          <a:xfrm>
            <a:off x="7119525" y="2284775"/>
            <a:ext cx="4892975" cy="28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 txBox="1"/>
          <p:nvPr>
            <p:ph type="title"/>
          </p:nvPr>
        </p:nvSpPr>
        <p:spPr>
          <a:xfrm>
            <a:off x="229968" y="74083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Methodology</a:t>
            </a:r>
            <a:endParaRPr i="1"/>
          </a:p>
        </p:txBody>
      </p:sp>
      <p:grpSp>
        <p:nvGrpSpPr>
          <p:cNvPr id="192" name="Google Shape;192;p3"/>
          <p:cNvGrpSpPr/>
          <p:nvPr/>
        </p:nvGrpSpPr>
        <p:grpSpPr>
          <a:xfrm>
            <a:off x="556850" y="1204669"/>
            <a:ext cx="11069981" cy="5307775"/>
            <a:chOff x="556850" y="1204669"/>
            <a:chExt cx="11069981" cy="5307775"/>
          </a:xfrm>
        </p:grpSpPr>
        <p:sp>
          <p:nvSpPr>
            <p:cNvPr id="193" name="Google Shape;193;p3"/>
            <p:cNvSpPr/>
            <p:nvPr/>
          </p:nvSpPr>
          <p:spPr>
            <a:xfrm>
              <a:off x="556850" y="1204669"/>
              <a:ext cx="10599000" cy="353100"/>
            </a:xfrm>
            <a:prstGeom prst="rect">
              <a:avLst/>
            </a:prstGeom>
            <a:solidFill>
              <a:srgbClr val="DCEBFF"/>
            </a:solidFill>
            <a:ln>
              <a:noFill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3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Teacher Side</a:t>
              </a:r>
              <a:endParaRPr sz="1352"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556850" y="3187107"/>
              <a:ext cx="10599000" cy="353100"/>
            </a:xfrm>
            <a:prstGeom prst="rect">
              <a:avLst/>
            </a:prstGeom>
            <a:solidFill>
              <a:srgbClr val="DCF5DC"/>
            </a:solidFill>
            <a:ln>
              <a:noFill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3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Student Side</a:t>
              </a:r>
              <a:endParaRPr sz="1352"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56850" y="5099121"/>
              <a:ext cx="10599000" cy="353100"/>
            </a:xfrm>
            <a:prstGeom prst="rect">
              <a:avLst/>
            </a:prstGeom>
            <a:solidFill>
              <a:srgbClr val="EBDCFF"/>
            </a:solidFill>
            <a:ln>
              <a:noFill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3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Feedback Loop</a:t>
              </a:r>
              <a:endParaRPr sz="1352"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56850" y="1646292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DCEBFF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2">
                  <a:latin typeface="Calibri"/>
                  <a:ea typeface="Calibri"/>
                  <a:cs typeface="Calibri"/>
                  <a:sym typeface="Calibri"/>
                </a:rPr>
                <a:t>Video Capture (real time)</a:t>
              </a:r>
              <a:endParaRPr sz="1352"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383244" y="1646292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DCEBFF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2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Hand Landmark Extraction</a:t>
              </a:r>
              <a:endParaRPr sz="1352"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6209637" y="1646292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DCEBFF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2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Pose &amp; Gripper Estimation</a:t>
              </a:r>
              <a:endParaRPr sz="1352"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9036031" y="1646292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DCEBFF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2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 Transmission</a:t>
              </a:r>
              <a:endParaRPr sz="1352"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556850" y="3655189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DCF5DC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2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Frame Transformation</a:t>
              </a:r>
              <a:endParaRPr sz="1352"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3383244" y="3655189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DCF5DC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2">
                  <a:latin typeface="Calibri"/>
                  <a:ea typeface="Calibri"/>
                  <a:cs typeface="Calibri"/>
                  <a:sym typeface="Calibri"/>
                </a:rPr>
                <a:t>I</a:t>
              </a:r>
              <a:r>
                <a:rPr b="0" i="0" lang="en-US" sz="1352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nverse Kinematics</a:t>
              </a:r>
              <a:endParaRPr sz="1352"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6209637" y="3655189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DCF5DC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2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Motion Smoothing</a:t>
              </a:r>
              <a:endParaRPr sz="1352"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9036031" y="3655189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DCF5DC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2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Arm Actuation</a:t>
              </a:r>
              <a:endParaRPr sz="1352"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1734514" y="5540744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EBDCFF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2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Visual Feedback to Teacher</a:t>
              </a:r>
              <a:endParaRPr sz="1352"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7400531" y="5540744"/>
              <a:ext cx="2590800" cy="971700"/>
            </a:xfrm>
            <a:prstGeom prst="roundRect">
              <a:avLst>
                <a:gd fmla="val 16667" name="adj"/>
              </a:avLst>
            </a:prstGeom>
            <a:solidFill>
              <a:srgbClr val="EBDCFF"/>
            </a:solidFill>
            <a:ln cap="flat" cmpd="sng" w="9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637" rotWithShape="0" dir="5400000" dist="22216">
                <a:srgbClr val="000000">
                  <a:alpha val="34900"/>
                </a:srgbClr>
              </a:outerShdw>
            </a:effectLst>
          </p:spPr>
          <p:txBody>
            <a:bodyPr anchorCtr="0" anchor="ctr" bIns="44150" lIns="88300" spcFirstLastPara="1" rIns="88300" wrap="square" tIns="44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2">
                  <a:latin typeface="Calibri"/>
                  <a:ea typeface="Calibri"/>
                  <a:cs typeface="Calibri"/>
                  <a:sym typeface="Calibri"/>
                </a:rPr>
                <a:t>Force </a:t>
              </a:r>
              <a:r>
                <a:rPr b="0" i="0" lang="en-US" sz="1352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Feedback  to student</a:t>
              </a:r>
              <a:endParaRPr sz="1352"/>
            </a:p>
          </p:txBody>
        </p:sp>
        <p:cxnSp>
          <p:nvCxnSpPr>
            <p:cNvPr id="206" name="Google Shape;206;p3"/>
            <p:cNvCxnSpPr>
              <a:stCxn id="196" idx="3"/>
              <a:endCxn id="197" idx="1"/>
            </p:cNvCxnSpPr>
            <p:nvPr/>
          </p:nvCxnSpPr>
          <p:spPr>
            <a:xfrm>
              <a:off x="3147650" y="2132142"/>
              <a:ext cx="235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7" name="Google Shape;207;p3"/>
            <p:cNvCxnSpPr>
              <a:stCxn id="197" idx="3"/>
              <a:endCxn id="198" idx="1"/>
            </p:cNvCxnSpPr>
            <p:nvPr/>
          </p:nvCxnSpPr>
          <p:spPr>
            <a:xfrm>
              <a:off x="5974044" y="2132142"/>
              <a:ext cx="235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8" name="Google Shape;208;p3"/>
            <p:cNvCxnSpPr>
              <a:endCxn id="199" idx="1"/>
            </p:cNvCxnSpPr>
            <p:nvPr/>
          </p:nvCxnSpPr>
          <p:spPr>
            <a:xfrm>
              <a:off x="8800531" y="2132142"/>
              <a:ext cx="235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9" name="Google Shape;209;p3"/>
            <p:cNvCxnSpPr>
              <a:stCxn id="200" idx="3"/>
              <a:endCxn id="201" idx="1"/>
            </p:cNvCxnSpPr>
            <p:nvPr/>
          </p:nvCxnSpPr>
          <p:spPr>
            <a:xfrm>
              <a:off x="3147650" y="4141039"/>
              <a:ext cx="235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" name="Google Shape;210;p3"/>
            <p:cNvCxnSpPr>
              <a:stCxn id="201" idx="3"/>
              <a:endCxn id="202" idx="1"/>
            </p:cNvCxnSpPr>
            <p:nvPr/>
          </p:nvCxnSpPr>
          <p:spPr>
            <a:xfrm>
              <a:off x="5974044" y="4141039"/>
              <a:ext cx="235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1" name="Google Shape;211;p3"/>
            <p:cNvCxnSpPr>
              <a:stCxn id="202" idx="3"/>
              <a:endCxn id="203" idx="1"/>
            </p:cNvCxnSpPr>
            <p:nvPr/>
          </p:nvCxnSpPr>
          <p:spPr>
            <a:xfrm>
              <a:off x="8800437" y="4141039"/>
              <a:ext cx="235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2" name="Google Shape;212;p3"/>
            <p:cNvCxnSpPr>
              <a:stCxn id="199" idx="2"/>
              <a:endCxn id="200" idx="0"/>
            </p:cNvCxnSpPr>
            <p:nvPr/>
          </p:nvCxnSpPr>
          <p:spPr>
            <a:xfrm rot="5400000">
              <a:off x="5573281" y="-1103058"/>
              <a:ext cx="1037100" cy="8479200"/>
            </a:xfrm>
            <a:prstGeom prst="bentConnector3">
              <a:avLst>
                <a:gd fmla="val 37422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3"/>
            <p:cNvCxnSpPr>
              <a:endCxn id="200" idx="0"/>
            </p:cNvCxnSpPr>
            <p:nvPr/>
          </p:nvCxnSpPr>
          <p:spPr>
            <a:xfrm>
              <a:off x="1851950" y="3281389"/>
              <a:ext cx="300" cy="37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3d8d94a665e_0_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3000" y="1608925"/>
            <a:ext cx="3752375" cy="32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d8d94a665e_0_170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Hand Tracking Pipeline</a:t>
            </a:r>
            <a:endParaRPr i="1"/>
          </a:p>
        </p:txBody>
      </p:sp>
      <p:sp>
        <p:nvSpPr>
          <p:cNvPr id="220" name="Google Shape;220;g3d8d94a665e_0_170"/>
          <p:cNvSpPr txBox="1"/>
          <p:nvPr/>
        </p:nvSpPr>
        <p:spPr>
          <a:xfrm>
            <a:off x="506500" y="1262900"/>
            <a:ext cx="78129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Landmark Detection: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MediaPipe Hands detects 21 landmarks per frame. Five palm landmarks (wrist + 4</a:t>
            </a:r>
            <a:r>
              <a:rPr i="0" lang="en-US" sz="1800" u="none" cap="none" strike="noStrike">
                <a:solidFill>
                  <a:schemeClr val="dk1"/>
                </a:solidFill>
              </a:rPr>
              <a:t> MCP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joints) are used to compute the palm centroid as the 3D position reference in normalized camera space [0,1].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Palm Orientation: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Two vectors are constructed from wrist to index MCP and pinky MCP. Their cross product gives a surface normal vector perpendicular to the palm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i="0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221" name="Google Shape;221;g3d8d94a665e_0_170"/>
          <p:cNvSpPr txBox="1"/>
          <p:nvPr/>
        </p:nvSpPr>
        <p:spPr>
          <a:xfrm>
            <a:off x="506500" y="4970896"/>
            <a:ext cx="107442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Limitation: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MediaPipe's Z-coordinate is a relative depth estimate that degrades with hand rotation and is not calibrated to real-world units, making raw Z unreliable for 6-DoF orientation tracking.</a:t>
            </a:r>
            <a:endParaRPr i="0" sz="18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Depth Estimation &amp; Gripper Detection</a:t>
            </a:r>
            <a:endParaRPr i="1"/>
          </a:p>
        </p:txBody>
      </p:sp>
      <p:sp>
        <p:nvSpPr>
          <p:cNvPr id="227" name="Google Shape;227;p5"/>
          <p:cNvSpPr txBox="1"/>
          <p:nvPr/>
        </p:nvSpPr>
        <p:spPr>
          <a:xfrm>
            <a:off x="1048950" y="2150555"/>
            <a:ext cx="10094100" cy="3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Palm Area Method: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Five palm landmarks are projected to pixel coordinates; their convex hull area is computed via cv2.convexHull. A larger area means the hand is closer. Area is smoothed over 20-frame rolling window and mapped to Z-axis position.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Gripper State: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Euclidean pixel distance between thumb tip (landmark 4) and index fingertip (landmark 8) is computed each frame. A threshold of 40 pixels classifies the gesture: below threshold = pinch (gripper closed), above = open.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Hand Tracking Pipeline</a:t>
            </a:r>
            <a:endParaRPr i="1"/>
          </a:p>
        </p:txBody>
      </p:sp>
      <p:pic>
        <p:nvPicPr>
          <p:cNvPr id="233" name="Google Shape;233;p4" title="Hand_orientation_detec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0550" y="1094950"/>
            <a:ext cx="3385025" cy="563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9e14f9b69_4_0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Hand Tracking Pipeline</a:t>
            </a:r>
            <a:endParaRPr i="1"/>
          </a:p>
        </p:txBody>
      </p:sp>
      <p:sp>
        <p:nvSpPr>
          <p:cNvPr id="239" name="Google Shape;239;g3d9e14f9b69_4_0"/>
          <p:cNvSpPr txBox="1"/>
          <p:nvPr/>
        </p:nvSpPr>
        <p:spPr>
          <a:xfrm>
            <a:off x="229975" y="4974650"/>
            <a:ext cx="1182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teleoperation pipeline continuously captures camera frames, extracts hand landmarks using MediaPipe, maps the palm position to robot workspace coordinates, and sends safe movement commands to the UR robot.</a:t>
            </a:r>
            <a:endParaRPr/>
          </a:p>
        </p:txBody>
      </p:sp>
      <p:pic>
        <p:nvPicPr>
          <p:cNvPr id="240" name="Google Shape;240;g3d9e14f9b69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890" y="1373461"/>
            <a:ext cx="5607817" cy="295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d9e14f9b69_4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2929" y="1363375"/>
            <a:ext cx="5718763" cy="2975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8d94a665e_0_0"/>
          <p:cNvSpPr txBox="1"/>
          <p:nvPr>
            <p:ph type="title"/>
          </p:nvPr>
        </p:nvSpPr>
        <p:spPr>
          <a:xfrm>
            <a:off x="244108" y="3745"/>
            <a:ext cx="102855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Key Mapping Logic</a:t>
            </a:r>
            <a:endParaRPr/>
          </a:p>
        </p:txBody>
      </p:sp>
      <p:sp>
        <p:nvSpPr>
          <p:cNvPr id="247" name="Google Shape;247;g3d8d94a665e_0_0"/>
          <p:cNvSpPr/>
          <p:nvPr/>
        </p:nvSpPr>
        <p:spPr>
          <a:xfrm>
            <a:off x="980025" y="1778600"/>
            <a:ext cx="4397100" cy="40953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offset_y = map_range(cx_norm, 0.2, 0.8,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MAX_XY_BOUND, -MAX_XY_BOUND)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offset_x = map_range(cy_norm, 0.2, 0.8,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-MAX_XY_BOUND, MAX_XY_BOUND)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g3d8d94a665e_0_0"/>
          <p:cNvSpPr txBox="1"/>
          <p:nvPr/>
        </p:nvSpPr>
        <p:spPr>
          <a:xfrm>
            <a:off x="6622548" y="1778600"/>
            <a:ext cx="4969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normalized hand coordinates from MediaPipe are mapped into physical robot workspace coordinates. This creates an intuitive camera-to-robot motion relationship while ensuring the robot never exceeds predefined safety boundaries.</a:t>
            </a:r>
            <a:endParaRPr/>
          </a:p>
        </p:txBody>
      </p:sp>
      <p:pic>
        <p:nvPicPr>
          <p:cNvPr id="249" name="Google Shape;249;g3d8d94a665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251" y="3685700"/>
            <a:ext cx="4529848" cy="301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 txBox="1"/>
          <p:nvPr>
            <p:ph type="title"/>
          </p:nvPr>
        </p:nvSpPr>
        <p:spPr>
          <a:xfrm>
            <a:off x="229968" y="3745"/>
            <a:ext cx="10689566" cy="91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4000"/>
              <a:buFont typeface="Calibri"/>
              <a:buNone/>
            </a:pPr>
            <a:r>
              <a:rPr lang="en-US"/>
              <a:t>PyBullet Simulation</a:t>
            </a:r>
            <a:endParaRPr/>
          </a:p>
        </p:txBody>
      </p:sp>
      <p:pic>
        <p:nvPicPr>
          <p:cNvPr id="255" name="Google Shape;255;p6" title="Sim_contro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2325" y="1087350"/>
            <a:ext cx="7584850" cy="56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8d94a665e_0_298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Real Robot Teleoperation (UR Robot)</a:t>
            </a:r>
            <a:endParaRPr i="1"/>
          </a:p>
        </p:txBody>
      </p:sp>
      <p:sp>
        <p:nvSpPr>
          <p:cNvPr id="261" name="Google Shape;261;g3d8d94a665e_0_298"/>
          <p:cNvSpPr txBox="1"/>
          <p:nvPr/>
        </p:nvSpPr>
        <p:spPr>
          <a:xfrm>
            <a:off x="876825" y="1608550"/>
            <a:ext cx="10042800" cy="4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Home </a:t>
            </a:r>
            <a:r>
              <a:rPr b="1" lang="en-US" sz="1800">
                <a:solidFill>
                  <a:schemeClr val="dk1"/>
                </a:solidFill>
              </a:rPr>
              <a:t>Position</a:t>
            </a:r>
            <a:r>
              <a:rPr b="1" i="0" lang="en-US" sz="1800" u="none" cap="none" strike="noStrike">
                <a:solidFill>
                  <a:schemeClr val="dk1"/>
                </a:solidFill>
              </a:rPr>
              <a:t>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On startup, the robot's current pose is captured as the fixed home anchor. All subsequent movements are computed as offsets from this anchor, keeping Z, Rx, Ry, Rz locked and only varying X and Y.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Gatekeeper Pattern: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Movement commands are only sent when rob.is_program_running() returns False. This prevents command flooding - the camera loop runs continuously for smooth video while the robot processes one pose at a time.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Safety: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Velocity and acceleration are set to 0.1 m/s and 0.1 m/s2. Motion is bounded to +-15 cm in X/Y from the home anchor. Camera X/Y coordinates (middle 60% of frame) are linearly mapped to the physical workspace bounds.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65cd911e6_0_40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Real Robot Teleoperation (UR Robot)</a:t>
            </a:r>
            <a:endParaRPr/>
          </a:p>
        </p:txBody>
      </p:sp>
      <p:pic>
        <p:nvPicPr>
          <p:cNvPr id="267" name="Google Shape;267;g3e65cd911e6_0_40" title="UR_arm_control_grippe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075" y="1108025"/>
            <a:ext cx="3801400" cy="563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e65cd911e6_0_40" title="Screenshot 2026-04-27 at 8.51.5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3850" y="3701963"/>
            <a:ext cx="4045750" cy="72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e65cd911e6_0_40"/>
          <p:cNvSpPr txBox="1"/>
          <p:nvPr/>
        </p:nvSpPr>
        <p:spPr>
          <a:xfrm>
            <a:off x="7977200" y="3036100"/>
            <a:ext cx="32385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Mapping Formula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65cd911e6_0_51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Real Robot Teleoperation (UR Robot)</a:t>
            </a:r>
            <a:endParaRPr/>
          </a:p>
        </p:txBody>
      </p:sp>
      <p:pic>
        <p:nvPicPr>
          <p:cNvPr id="275" name="Google Shape;275;g3e65cd911e6_0_51" title="traj_pr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02" y="1013084"/>
            <a:ext cx="7665050" cy="57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e65cd911e6_0_51"/>
          <p:cNvSpPr txBox="1"/>
          <p:nvPr/>
        </p:nvSpPr>
        <p:spPr>
          <a:xfrm>
            <a:off x="8473975" y="1790050"/>
            <a:ext cx="3300900" cy="48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Polynomial Trajectory Model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Least Squares Curve Fitting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Extrapolation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g3e65cd911e6_0_51" title="Screenshot 2026-04-27 at 8.32.3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1825" y="3235225"/>
            <a:ext cx="3606025" cy="6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e65cd911e6_0_51" title="Screenshot 2026-04-27 at 8.32.54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72876" y="2231500"/>
            <a:ext cx="2510776" cy="54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e65cd911e6_0_51" title="Screenshot 2026-04-27 at 8.49.03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73975" y="4585987"/>
            <a:ext cx="3300900" cy="493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8d94a665e_0_309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Typical Failure cases</a:t>
            </a:r>
            <a:endParaRPr/>
          </a:p>
        </p:txBody>
      </p:sp>
      <p:sp>
        <p:nvSpPr>
          <p:cNvPr id="285" name="Google Shape;285;g3d8d94a665e_0_309"/>
          <p:cNvSpPr txBox="1"/>
          <p:nvPr/>
        </p:nvSpPr>
        <p:spPr>
          <a:xfrm>
            <a:off x="974100" y="1793175"/>
            <a:ext cx="7278900" cy="3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axis flips when the palm is facing flat to camera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Singularity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 and acceleration from robot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Occlusion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Lighting extremitites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65cd911e6_0_33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Key Takeaways</a:t>
            </a:r>
            <a:endParaRPr/>
          </a:p>
        </p:txBody>
      </p:sp>
      <p:sp>
        <p:nvSpPr>
          <p:cNvPr id="291" name="Google Shape;291;g3e65cd911e6_0_33"/>
          <p:cNvSpPr txBox="1"/>
          <p:nvPr/>
        </p:nvSpPr>
        <p:spPr>
          <a:xfrm>
            <a:off x="564475" y="2581475"/>
            <a:ext cx="10221600" cy="13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method achieves low position errors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smoothing reduces jitter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 bounds prevent out-of-range coordinates and improve stability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084423464_2_200"/>
          <p:cNvSpPr txBox="1"/>
          <p:nvPr>
            <p:ph type="title"/>
          </p:nvPr>
        </p:nvSpPr>
        <p:spPr>
          <a:xfrm>
            <a:off x="229968" y="3745"/>
            <a:ext cx="106896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298" name="Google Shape;298;g35084423464_2_200"/>
          <p:cNvSpPr txBox="1"/>
          <p:nvPr/>
        </p:nvSpPr>
        <p:spPr>
          <a:xfrm>
            <a:off x="967800" y="1820950"/>
            <a:ext cx="10256400" cy="3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IMU Fusion: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Integrate an IMU worn on the hand for robust 6-DoF orientation (roll, pitch, yaw)</a:t>
            </a:r>
            <a:br>
              <a:rPr i="0" lang="en-US" sz="1800" u="none" cap="none" strike="noStrike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Get good extimate for Z axis and use Kalman filter for X and Y axis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Deviation Detection: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Implement real-time deviation detection loop comparing trainee trajectory to recorded expert pat</a:t>
            </a:r>
            <a:r>
              <a:rPr lang="en-US" sz="1800">
                <a:solidFill>
                  <a:schemeClr val="dk1"/>
                </a:solidFill>
              </a:rPr>
              <a:t>h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to deliver corrective forces when deviation exceeds threshold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Haptic Glove Integration: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Finalize the wearable soft</a:t>
            </a:r>
            <a:r>
              <a:rPr lang="en-US" sz="1800">
                <a:solidFill>
                  <a:schemeClr val="dk1"/>
                </a:solidFill>
              </a:rPr>
              <a:t> haptic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glove attached to the robot end-effector to physically guide the trainee’s hand back toward the expert trajectory without fully constraining dexterity</a:t>
            </a:r>
            <a:endParaRPr i="0" sz="18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3b2bfda5d9_0_6"/>
          <p:cNvSpPr txBox="1"/>
          <p:nvPr>
            <p:ph idx="1" type="body"/>
          </p:nvPr>
        </p:nvSpPr>
        <p:spPr>
          <a:xfrm>
            <a:off x="3740100" y="3059050"/>
            <a:ext cx="4711800" cy="13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3200"/>
              <a:buNone/>
            </a:pPr>
            <a:r>
              <a:rPr b="1" lang="en-US" sz="5500">
                <a:solidFill>
                  <a:srgbClr val="BF9000"/>
                </a:solidFill>
              </a:rPr>
              <a:t>THANK YOU</a:t>
            </a:r>
            <a:endParaRPr sz="6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3dadf4ebf10_0_0"/>
          <p:cNvPicPr preferRelativeResize="0"/>
          <p:nvPr/>
        </p:nvPicPr>
        <p:blipFill rotWithShape="1">
          <a:blip r:embed="rId3">
            <a:alphaModFix/>
          </a:blip>
          <a:srcRect b="19299" l="0" r="37202" t="15656"/>
          <a:stretch/>
        </p:blipFill>
        <p:spPr>
          <a:xfrm>
            <a:off x="108325" y="989825"/>
            <a:ext cx="3594118" cy="586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dadf4ebf10_0_0"/>
          <p:cNvSpPr/>
          <p:nvPr/>
        </p:nvSpPr>
        <p:spPr>
          <a:xfrm>
            <a:off x="643475" y="1093050"/>
            <a:ext cx="2715000" cy="236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dadf4ebf10_0_0"/>
          <p:cNvSpPr/>
          <p:nvPr/>
        </p:nvSpPr>
        <p:spPr>
          <a:xfrm>
            <a:off x="1727725" y="4354575"/>
            <a:ext cx="1533900" cy="102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g3dadf4ebf10_0_0"/>
          <p:cNvCxnSpPr>
            <a:endCxn id="311" idx="3"/>
          </p:cNvCxnSpPr>
          <p:nvPr/>
        </p:nvCxnSpPr>
        <p:spPr>
          <a:xfrm rot="10800000">
            <a:off x="3358475" y="2274300"/>
            <a:ext cx="766800" cy="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g3dadf4ebf10_0_0"/>
          <p:cNvSpPr txBox="1"/>
          <p:nvPr/>
        </p:nvSpPr>
        <p:spPr>
          <a:xfrm>
            <a:off x="4143000" y="1904025"/>
            <a:ext cx="17541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getting feedback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g3dadf4ebf10_0_0"/>
          <p:cNvCxnSpPr/>
          <p:nvPr/>
        </p:nvCxnSpPr>
        <p:spPr>
          <a:xfrm rot="10800000">
            <a:off x="3261625" y="4921300"/>
            <a:ext cx="766800" cy="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g3dadf4ebf10_0_0"/>
          <p:cNvSpPr txBox="1"/>
          <p:nvPr/>
        </p:nvSpPr>
        <p:spPr>
          <a:xfrm>
            <a:off x="4046000" y="4551025"/>
            <a:ext cx="17541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Teacher providing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g3daf610dcce_0_0" title="proposed_sol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1263076"/>
            <a:ext cx="11696700" cy="52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2017-11-29T02:40:33Z</dcterms:created>
  <dc:creator>Eunseob Kim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2023-01-27T04:36:31Z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11bbf0b9-dfef-41e7-a49c-a8584f81febb</vt:lpwstr>
  </property>
  <property fmtid="{D5CDD505-2E9C-101B-9397-08002B2CF9AE}" pid="8" name="MSIP_Label_4044bd30-2ed7-4c9d-9d12-46200872a97b_ContentBits">
    <vt:lpwstr>0</vt:lpwstr>
  </property>
</Properties>
</file>